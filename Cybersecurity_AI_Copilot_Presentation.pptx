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705bfb24934bb5" /><Relationship Type="http://schemas.openxmlformats.org/officeDocument/2006/relationships/extended-properties" Target="/docProps/app.xml" Id="Rc92696c3fa0544a1" /><Relationship Type="http://schemas.openxmlformats.org/officeDocument/2006/relationships/officeDocument" Target="/ppt/presentation.xml" Id="R2a617f053390439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007d9c2e624c2a"/>
  </p:sldMasterIdLst>
  <p:notesMasterIdLst>
    <p:notesMasterId xmlns:r="http://schemas.openxmlformats.org/officeDocument/2006/relationships" r:id="Rc66984a36af649fd"/>
  </p:notesMasterIdLst>
  <p:sldIdLst>
    <p:sldId xmlns:r="http://schemas.openxmlformats.org/officeDocument/2006/relationships" id="256" r:id="R05d6577c24644121"/>
    <p:sldId xmlns:r="http://schemas.openxmlformats.org/officeDocument/2006/relationships" id="257" r:id="Rae26784388934aae"/>
    <p:sldId xmlns:r="http://schemas.openxmlformats.org/officeDocument/2006/relationships" id="258" r:id="Ra993d2636990417f"/>
    <p:sldId xmlns:r="http://schemas.openxmlformats.org/officeDocument/2006/relationships" id="259" r:id="R2188c4cc77594f5a"/>
    <p:sldId xmlns:r="http://schemas.openxmlformats.org/officeDocument/2006/relationships" id="260" r:id="R02913a86995544b2"/>
    <p:sldId xmlns:r="http://schemas.openxmlformats.org/officeDocument/2006/relationships" id="261" r:id="Rf3f2462d200d4abe"/>
    <p:sldId xmlns:r="http://schemas.openxmlformats.org/officeDocument/2006/relationships" id="262" r:id="Rb7cebbcb643a4e40"/>
    <p:sldId xmlns:r="http://schemas.openxmlformats.org/officeDocument/2006/relationships" id="263" r:id="Rfa4bea749d8b4294"/>
    <p:sldId xmlns:r="http://schemas.openxmlformats.org/officeDocument/2006/relationships" id="264" r:id="Rc1ed3132e91746b5"/>
    <p:sldId xmlns:r="http://schemas.openxmlformats.org/officeDocument/2006/relationships" id="265" r:id="R8bce35697935446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73e0df64584422f" /><Relationship Type="http://schemas.openxmlformats.org/officeDocument/2006/relationships/slideMaster" Target="/ppt/slideMasters/slideMaster1.xml" Id="R17007d9c2e624c2a" /><Relationship Type="http://schemas.openxmlformats.org/officeDocument/2006/relationships/notesMaster" Target="/ppt/notesMasters/notesMaster1.xml" Id="Rc66984a36af649fd" /><Relationship Type="http://schemas.openxmlformats.org/officeDocument/2006/relationships/presProps" Target="/ppt/presProps.xml" Id="R0087a5cf7ffe485d" /><Relationship Type="http://schemas.openxmlformats.org/officeDocument/2006/relationships/tableStyles" Target="/ppt/tableStyles.xml" Id="Re00531431fde4f85" /><Relationship Type="http://schemas.openxmlformats.org/officeDocument/2006/relationships/slide" Target="/ppt/slides/slide1.xml" Id="R05d6577c24644121" /><Relationship Type="http://schemas.openxmlformats.org/officeDocument/2006/relationships/slide" Target="/ppt/slides/slide2.xml" Id="Rae26784388934aae" /><Relationship Type="http://schemas.openxmlformats.org/officeDocument/2006/relationships/slide" Target="/ppt/slides/slide3.xml" Id="Ra993d2636990417f" /><Relationship Type="http://schemas.openxmlformats.org/officeDocument/2006/relationships/slide" Target="/ppt/slides/slide4.xml" Id="R2188c4cc77594f5a" /><Relationship Type="http://schemas.openxmlformats.org/officeDocument/2006/relationships/slide" Target="/ppt/slides/slide5.xml" Id="R02913a86995544b2" /><Relationship Type="http://schemas.openxmlformats.org/officeDocument/2006/relationships/slide" Target="/ppt/slides/slide6.xml" Id="Rf3f2462d200d4abe" /><Relationship Type="http://schemas.openxmlformats.org/officeDocument/2006/relationships/slide" Target="/ppt/slides/slide7.xml" Id="Rb7cebbcb643a4e40" /><Relationship Type="http://schemas.openxmlformats.org/officeDocument/2006/relationships/slide" Target="/ppt/slides/slide8.xml" Id="Rfa4bea749d8b4294" /><Relationship Type="http://schemas.openxmlformats.org/officeDocument/2006/relationships/slide" Target="/ppt/slides/slide9.xml" Id="Rc1ed3132e91746b5" /><Relationship Type="http://schemas.openxmlformats.org/officeDocument/2006/relationships/slide" Target="/ppt/slides/slide10.xml" Id="R8bce3569793544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07ec38f554a483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3a29e17d064f9f" /><Relationship Type="http://schemas.openxmlformats.org/officeDocument/2006/relationships/notesMaster" Target="/ppt/notesMasters/notesMaster1.xml" Id="Rb942f4ec1050460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f2c8e72d95443ec" /><Relationship Type="http://schemas.openxmlformats.org/officeDocument/2006/relationships/notesMaster" Target="/ppt/notesMasters/notesMaster1.xml" Id="R580be4886c944b6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3bf643e7b304f52" /><Relationship Type="http://schemas.openxmlformats.org/officeDocument/2006/relationships/notesMaster" Target="/ppt/notesMasters/notesMaster1.xml" Id="Rbe457bd867d242b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93c79013bf8447e" /><Relationship Type="http://schemas.openxmlformats.org/officeDocument/2006/relationships/notesMaster" Target="/ppt/notesMasters/notesMaster1.xml" Id="R02bbbdf0cec94bb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1b43c156d444860" /><Relationship Type="http://schemas.openxmlformats.org/officeDocument/2006/relationships/notesMaster" Target="/ppt/notesMasters/notesMaster1.xml" Id="R5ed0802d71f8423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e27c4a00d794be3" /><Relationship Type="http://schemas.openxmlformats.org/officeDocument/2006/relationships/notesMaster" Target="/ppt/notesMasters/notesMaster1.xml" Id="R5de41738e5b840f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62cc4ff54b44f13" /><Relationship Type="http://schemas.openxmlformats.org/officeDocument/2006/relationships/notesMaster" Target="/ppt/notesMasters/notesMaster1.xml" Id="R146bcc0b907e4d3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9968d6557fc401b" /><Relationship Type="http://schemas.openxmlformats.org/officeDocument/2006/relationships/notesMaster" Target="/ppt/notesMasters/notesMaster1.xml" Id="R8d317bbc28fd481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7f78fd450404ac0" /><Relationship Type="http://schemas.openxmlformats.org/officeDocument/2006/relationships/notesMaster" Target="/ppt/notesMasters/notesMaster1.xml" Id="R13c0cc3d3f734bc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4ee2169f4e84208" /><Relationship Type="http://schemas.openxmlformats.org/officeDocument/2006/relationships/notesMaster" Target="/ppt/notesMasters/notesMaster1.xml" Id="R9cecc5fa3918415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584f96d3544e1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e71065c49f42f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a91743a1ae4b6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11b5a05861492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b2cc262ffe45d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2dc7a9210249c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59C832C-408F-46F5-8698-2BBAC9E3AF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8469180-A9B9-4507-B814-615CEB0F8C8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49F23D5-7031-4D89-927C-6C7C05BF1A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537B60D-E0D5-4924-89C3-82FDFB66ED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8433A81-BC6F-4193-90CD-E149217205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192F2A6-9C6A-450B-8E49-CFED71273B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FBC2805-8AD8-4EBA-BAEC-74DE80743D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C472343-C31D-4D1B-A065-F6AF0F63295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7B01607-301E-4FD2-A280-C35C10F188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0720BC2-8592-414C-9D14-37449193085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da47a4887c2455b" /><Relationship Type="http://schemas.openxmlformats.org/officeDocument/2006/relationships/slideLayout" Target="/ppt/slideLayouts/slideLayout1.xml" Id="R797938e5315a4c7e" /><Relationship Type="http://schemas.openxmlformats.org/officeDocument/2006/relationships/slideLayout" Target="/ppt/slideLayouts/slideLayout2.xml" Id="Rde7ce1dfcc234e8a" /><Relationship Type="http://schemas.openxmlformats.org/officeDocument/2006/relationships/slideLayout" Target="/ppt/slideLayouts/slideLayout3.xml" Id="R1aa27254b8b4455f" /><Relationship Type="http://schemas.openxmlformats.org/officeDocument/2006/relationships/slideLayout" Target="/ppt/slideLayouts/slideLayout4.xml" Id="R8d2e1cf2155b4043" /><Relationship Type="http://schemas.openxmlformats.org/officeDocument/2006/relationships/slideLayout" Target="/ppt/slideLayouts/slideLayout5.xml" Id="Rc0c76dae7fd34eb1" /><Relationship Type="http://schemas.openxmlformats.org/officeDocument/2006/relationships/slideLayout" Target="/ppt/slideLayouts/slideLayout6.xml" Id="Rb249080ebe3a4c9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97938e5315a4c7e"/>
    <p:sldLayoutId xmlns:r="http://schemas.openxmlformats.org/officeDocument/2006/relationships" id="2147483650" r:id="Rde7ce1dfcc234e8a"/>
    <p:sldLayoutId xmlns:r="http://schemas.openxmlformats.org/officeDocument/2006/relationships" id="2147483651" r:id="R1aa27254b8b4455f"/>
    <p:sldLayoutId xmlns:r="http://schemas.openxmlformats.org/officeDocument/2006/relationships" id="2147483652" r:id="R8d2e1cf2155b4043"/>
    <p:sldLayoutId xmlns:r="http://schemas.openxmlformats.org/officeDocument/2006/relationships" id="2147483653" r:id="Rc0c76dae7fd34eb1"/>
    <p:sldLayoutId xmlns:r="http://schemas.openxmlformats.org/officeDocument/2006/relationships" id="2147483654" r:id="Rb249080ebe3a4c9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c5633d20024e9a" /><Relationship Type="http://schemas.openxmlformats.org/officeDocument/2006/relationships/notesSlide" Target="/ppt/notesSlides/notesSlide1.xml" Id="R907ea377efa44e3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bf3fbcdc984a07" /><Relationship Type="http://schemas.openxmlformats.org/officeDocument/2006/relationships/notesSlide" Target="/ppt/notesSlides/notesSlide2.xml" Id="Re38a262fbdf546b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347ea9ccda469b" /><Relationship Type="http://schemas.openxmlformats.org/officeDocument/2006/relationships/notesSlide" Target="/ppt/notesSlides/notesSlide3.xml" Id="R7480da3988ea45f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b3aa65cafe4aba" /><Relationship Type="http://schemas.openxmlformats.org/officeDocument/2006/relationships/notesSlide" Target="/ppt/notesSlides/notesSlide4.xml" Id="R08dc4790e37c4a5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c79b8ff61a430c" /><Relationship Type="http://schemas.openxmlformats.org/officeDocument/2006/relationships/notesSlide" Target="/ppt/notesSlides/notesSlide5.xml" Id="Rfcfc5a911b89466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760f5d67034cb9" /><Relationship Type="http://schemas.openxmlformats.org/officeDocument/2006/relationships/notesSlide" Target="/ppt/notesSlides/notesSlide6.xml" Id="Rcccda6464e37436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395d06d5454161" /><Relationship Type="http://schemas.openxmlformats.org/officeDocument/2006/relationships/notesSlide" Target="/ppt/notesSlides/notesSlide7.xml" Id="R95981d41a16a442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cc521c57e14b83" /><Relationship Type="http://schemas.openxmlformats.org/officeDocument/2006/relationships/notesSlide" Target="/ppt/notesSlides/notesSlide8.xml" Id="Ra81b8c479fed48e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0872de496644d6" /><Relationship Type="http://schemas.openxmlformats.org/officeDocument/2006/relationships/notesSlide" Target="/ppt/notesSlides/notesSlide9.xml" Id="R7cae4c2153544df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839dc137dd4665" /><Relationship Type="http://schemas.openxmlformats.org/officeDocument/2006/relationships/notesSlide" Target="/ppt/notesSlides/notesSlide10.xml" Id="R584d6e6053ca4a5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2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15CD8A-A685-4891-BA69-93688DD83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A0BF20-617F-4E3E-9B22-67A59E300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04875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91D5CA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91D5CA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91D5CA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91D5CA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91D5CA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91D5CA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91D5CA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91D5CA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91D5CA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91D5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91D5C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1D5CA"/>
                </a:solidFill>
                <a:latin typeface="Arial"/>
                <a:ea typeface="Arial"/>
                <a:cs typeface="Arial"/>
              </a:rPr>
              <a:t>CYBERSECURITY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7DEB98-1E7E-4036-A772-787D5BFCC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1000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Securing an AI Root Cause</a:t>
            </a:r>
          </a:p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Analysis and Ticket Resolution Copilot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04F707-991F-487C-B96E-DBB0A8316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D8E4EA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D8E4EA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D8E4EA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D8E4EA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D8E4EA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D8E4EA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D8E4EA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D8E4EA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D8E4EA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D8E4E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D8E4E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8E4EA"/>
                </a:solidFill>
                <a:latin typeface="Arial"/>
                <a:ea typeface="Arial"/>
                <a:cs typeface="Arial"/>
              </a:rPr>
              <a:t>A controlled design for faster incident response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F86645-8D96-4B9A-9A40-DCC5BE76E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B8CAD3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B8CAD3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B8CAD3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B8CAD3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B8CAD3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B8CAD3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B8CAD3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B8CAD3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B8CAD3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B8CA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B8CAD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AD3"/>
                </a:solidFill>
                <a:latin typeface="Arial"/>
                <a:ea typeface="Arial"/>
                <a:cs typeface="Arial"/>
              </a:rPr>
              <a:t>150 applications  •  Cloud model  •  Production safeguards</a:t>
            </a:r>
          </a:p>
        </p:txBody>
      </p:sp>
    </p:spTree>
    <p:extLst>
      <p:ext uri="{BB962C8B-B14F-4D97-AF65-F5344CB8AC3E}">
        <p14:creationId xmlns:p14="http://schemas.microsoft.com/office/powerpoint/2010/main" val="4805502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115559-D1D8-47C7-B41E-D97B29588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C35AAF-BD4B-48CA-AE7C-E5CA9FA2C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Use case and security position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3F9BA6-3EFB-4656-84E7-2CEFC1AA7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2902B8-3DE6-4C61-9EFC-2AB32AB49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96B7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26E132-A71E-4072-999B-F413E6E96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525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3228EA-1F16-4E1B-AE5E-D78643F2C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76375"/>
            <a:ext cx="1002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Operational goal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F58E1B-3C83-4C4A-8AFD-0559FE8D5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71650"/>
            <a:ext cx="9944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Diagnose outages, recommend fixes, resolve repetitive L1/L2 tickets, reduce MTTR.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721F50-32F5-455D-B158-7A3D0AAAD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81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8D7EA7-F46A-46CD-BB0B-B5297442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05075"/>
            <a:ext cx="1002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Core security issue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ED2E60-943D-4C18-AD71-4609CBB33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00350"/>
            <a:ext cx="9944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Logs and tickets contain untrusted text and sensitive data; automation can change production.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0AE5DA-6205-49A9-AFFC-D8EEA134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09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9F0957-CA23-42EA-8D19-468B7F416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33775"/>
            <a:ext cx="1002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Design rule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2AAFB3-8C69-4CFC-BAC6-51D7B9B29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29050"/>
            <a:ext cx="9944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Model proposes. Policy validates. A person approves high-impact work.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87E3AE-59D6-47A1-ACC9-6D3A99E12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386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6B1A5C-C2D0-4FC5-99CF-47D5328F9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62475"/>
            <a:ext cx="1002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Rollout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7242C6-F980-43DE-A9B8-81309E35D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857750"/>
            <a:ext cx="9944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Read-only shadow mode → ticket drafts → one reversible low-risk action at a time.</a:t>
            </a:r>
          </a:p>
        </p:txBody>
      </p:sp>
    </p:spTree>
    <p:extLst>
      <p:ext uri="{BB962C8B-B14F-4D97-AF65-F5344CB8AC3E}">
        <p14:creationId xmlns:p14="http://schemas.microsoft.com/office/powerpoint/2010/main" val="18520259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BE3D14-CD1A-4D46-827D-E62C4A3D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53F21B-044A-44F5-8CC4-1CECDA23E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Reference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2FE129-40BF-4A18-90CA-22D66A4D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C43621-7BBD-44F3-BE20-DDA3876E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96B7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9EF98E-3A4A-4A9C-A9EF-B3B149C5B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2286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2F6F8"/>
          </a:solidFill>
          <a:ln xmlns:a="http://schemas.openxmlformats.org/drawingml/2006/main" w="19050">
            <a:solidFill>
              <a:srgbClr val="1232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A70209-C73A-42FF-80F3-82F609F3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764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Log sources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F1629D-8000-46C3-A41E-C65F9011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4792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150 applications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ECBDF7-3D2B-4C51-B39D-A9C4A3079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05000"/>
            <a:ext cx="2286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2F6F8"/>
          </a:solidFill>
          <a:ln xmlns:a="http://schemas.openxmlformats.org/drawingml/2006/main" w="19050">
            <a:solidFill>
              <a:srgbClr val="1232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F170FA-532C-4B73-A15D-49F845E1D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0764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Ingestion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A9F79C-3308-49B4-ABFF-C739A8108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44792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Normalize + redact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D3F93B-68F6-432E-80A2-62941E66C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05000"/>
            <a:ext cx="2286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2F6F8"/>
          </a:solidFill>
          <a:ln xmlns:a="http://schemas.openxmlformats.org/drawingml/2006/main" w="19050">
            <a:solidFill>
              <a:srgbClr val="1232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54ACD2-3260-4CDD-9AC8-E89E09EC4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764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33597C-1491-4061-A53D-01B085E8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4792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Read-only identity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477157-D88E-4AE5-9CA4-501D2B0C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905000"/>
            <a:ext cx="2286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EE8F7"/>
          </a:solidFill>
          <a:ln xmlns:a="http://schemas.openxmlformats.org/drawingml/2006/main" w="19050">
            <a:solidFill>
              <a:srgbClr val="1232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66F22E-E46F-45A9-B973-7A70CC19E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764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Cloud model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FC513B-3B9C-4BB2-ADD3-CBECE469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44792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No tools / no training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8943D7-534D-4306-AF45-42D02DB0F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2286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2F6F8"/>
          </a:solidFill>
          <a:ln xmlns:a="http://schemas.openxmlformats.org/drawingml/2006/main" w="19050">
            <a:solidFill>
              <a:srgbClr val="1232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8B4410-1229-46F7-8A90-40D566CF1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1719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Ticketing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081B64-213D-42F0-941B-4F81808A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4342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Read + draft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9821BB-F93F-4167-9704-F10D05C9A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00500"/>
            <a:ext cx="2286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2D9"/>
          </a:solidFill>
          <a:ln xmlns:a="http://schemas.openxmlformats.org/drawingml/2006/main" w="19050">
            <a:solidFill>
              <a:srgbClr val="1232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CF5C23-EDB8-4DAD-A27B-0D0F3DA99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1719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Policy gate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4ACDBC-E58B-46F8-8A07-783CE4DC3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54342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Schema + approval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45D538-D08E-4AF7-91B7-02EE33677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0"/>
            <a:ext cx="2286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2F6F8"/>
          </a:solidFill>
          <a:ln xmlns:a="http://schemas.openxmlformats.org/drawingml/2006/main" w="19050">
            <a:solidFill>
              <a:srgbClr val="1232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C164E2-E21E-4240-8FF2-12F7D4122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1719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Executor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DB8DD8-DF02-4C94-AD86-5BCE9556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54342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Fixed runbooks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D8B6BD-98A4-4931-B787-AF0CE3ED1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00500"/>
            <a:ext cx="2286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2F6F8"/>
          </a:solidFill>
          <a:ln xmlns:a="http://schemas.openxmlformats.org/drawingml/2006/main" w="19050">
            <a:solidFill>
              <a:srgbClr val="1232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9AD5E8-873E-4348-A08B-980747D3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1719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Production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22AA9C-0D71-457E-B352-E87641336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54342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Scoped + reversible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D3E709-1EB9-4FB5-97DE-F8A4D9A41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72175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96B77"/>
                </a:solidFill>
                <a:latin typeface="Arial"/>
                <a:ea typeface="Arial"/>
                <a:cs typeface="Arial"/>
              </a:rPr>
              <a:t>Trust boundaries: untrusted source text • vendor model boundary • policy-enforced write boundary</a:t>
            </a:r>
          </a:p>
        </p:txBody>
      </p:sp>
    </p:spTree>
    <p:extLst>
      <p:ext uri="{BB962C8B-B14F-4D97-AF65-F5344CB8AC3E}">
        <p14:creationId xmlns:p14="http://schemas.microsoft.com/office/powerpoint/2010/main" val="21312939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B9B8DF-0A45-4EFA-A7AF-C12A68ADA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34F250-AEED-4ECE-8D3D-56300DD36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Top risks in this copilot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7183B3-ED4B-47A6-A1C5-F8030284B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2DD2C1-3275-49DA-A183-43DB01109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96B7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530AE0-8A95-4041-983B-1A6F3048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76375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Prompt injection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79499A-B8A0-41B4-9C6F-5378873C1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476375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Ticket/log text steers diagnosis or action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D4DA32-2882-4672-B473-0F4436E95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476375"/>
            <a:ext cx="1428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9E4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D2BB2C-20AC-4600-9EA3-29E4EF823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15430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AF4848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AF4848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AF4848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AF4848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AF4848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AF4848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AF4848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AF4848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AF4848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AF48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AF484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F4848"/>
                </a:solidFill>
                <a:latin typeface="Arial"/>
                <a:ea typeface="Arial"/>
                <a:cs typeface="Arial"/>
              </a:rPr>
              <a:t>Critical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FFB132-F3E0-4271-9A3F-F4BF39B1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14575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Credential compromise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7B8E1D-48BF-4C81-BB6F-10267F0AA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14575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Analysis identity reaches systems beyond scope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0CDD0B-8B56-4353-B4F7-3915D4E5D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314575"/>
            <a:ext cx="1428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9E4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76710B-761D-4439-963B-502DE8196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3812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AF4848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AF4848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AF4848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AF4848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AF4848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AF4848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AF4848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AF4848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AF4848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AF48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AF484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F4848"/>
                </a:solidFill>
                <a:latin typeface="Arial"/>
                <a:ea typeface="Arial"/>
                <a:cs typeface="Arial"/>
              </a:rPr>
              <a:t>Critical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7183F9-4E51-4C36-ADDD-E9F2A4602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52775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Poisoned history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F814BB-9D12-4607-A45B-9BDEF80D4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52775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False incidents bias future recommendations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7CAA8E-10EB-4575-999D-E1E09A016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52775"/>
            <a:ext cx="1428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9C73CA-4E7C-4B65-940E-6AE6DEAE7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219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8A6115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8A6115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8A6115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8A6115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8A6115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8A6115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8A6115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8A6115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8A6115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8A611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8A61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A6115"/>
                </a:solidFill>
                <a:latin typeface="Arial"/>
                <a:ea typeface="Arial"/>
                <a:cs typeface="Arial"/>
              </a:rPr>
              <a:t>High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4ED37F-DAD0-4EA1-A002-D63BA554B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90975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Data disclosure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1C5EF0-A61A-4BC6-A1ED-5D4328843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990975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Secrets or personal data enter prompts/answers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16BDA8-3B5A-47DA-B6C3-41B33867A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990975"/>
            <a:ext cx="1428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1F41D9-58FD-40FD-8027-8C255989D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057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8A6115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8A6115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8A6115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8A6115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8A6115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8A6115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8A6115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8A6115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8A6115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8A611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8A61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A6115"/>
                </a:solidFill>
                <a:latin typeface="Arial"/>
                <a:ea typeface="Arial"/>
                <a:cs typeface="Arial"/>
              </a:rPr>
              <a:t>High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EEE6F6-B27F-4D19-A2D7-D908FC2A8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29175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Unsafe remediation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4E2849-E1A1-4367-AD3D-5BAFB9B29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829175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Wrong or broad fix harms availability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075121-119D-413E-92F4-FFAE1C654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829175"/>
            <a:ext cx="1428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9E4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0A051A-78D3-4CB1-A6A1-6E415AAF5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895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AF4848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AF4848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AF4848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AF4848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AF4848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AF4848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AF4848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AF4848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AF4848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AF48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AF484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F4848"/>
                </a:solidFill>
                <a:latin typeface="Arial"/>
                <a:ea typeface="Arial"/>
                <a:cs typeface="Arial"/>
              </a:rPr>
              <a:t>Critical</a:t>
            </a:r>
          </a:p>
        </p:txBody>
      </p:sp>
    </p:spTree>
    <p:extLst>
      <p:ext uri="{BB962C8B-B14F-4D97-AF65-F5344CB8AC3E}">
        <p14:creationId xmlns:p14="http://schemas.microsoft.com/office/powerpoint/2010/main" val="9615696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B56834-6548-4991-8868-A5EB5D3C0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1BC4A4-58BE-41F2-AEE0-7D2A481CB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Identity and access boundaries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2B859C-2297-46F8-95FB-388A748CC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EE1E54-C2AD-4A6A-9274-2E3C9BE8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96B7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E041B1-B212-475A-BD30-3F34FD286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04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A9F9DB-CF5E-4079-9983-CCF94FFAD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28750"/>
            <a:ext cx="1002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Analysis identity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4F2D8C-A661-4988-A283-2B0C8855A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24025"/>
            <a:ext cx="99441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Read masked logs and approved ticket fields; no production writes or secret retrieval.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F9BE31-655B-4F90-A412-5AAD3BA60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71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A967EE-F066-496F-8319-F6F4521AC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95525"/>
            <a:ext cx="1002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Action identity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B19101-DE21-441E-8490-9688F2A35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90800"/>
            <a:ext cx="99441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Separate executor can call named runbooks only, with short-lived scoped authorization.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097299-724C-40EC-B771-28BF99CF2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98D54D-2B94-435A-87DE-BA32D738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62300"/>
            <a:ext cx="1002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Human approval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6E4F97-7449-4422-A44F-88D72BE60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57575"/>
            <a:ext cx="99441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SSO + phishing-resistant MFA; just-in-time elevation for privileged changes.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F9D17C-0EB4-4ECC-AEC8-28E386375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05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9043BD-0C98-4D2B-842F-3B009D124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29075"/>
            <a:ext cx="1002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Network separation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3B7477-5012-4033-9557-69D18AD75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24350"/>
            <a:ext cx="99441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Production, copilot, and ingestion zones; narrow gateways and approved egress.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9CD3B4-E1CB-4729-9C6C-35CA37E11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72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C75A31-8EE3-4DB9-A903-28FE72A51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895850"/>
            <a:ext cx="1002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Audit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C0DB18-EFB1-445C-B5C7-97AE8C60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91125"/>
            <a:ext cx="99441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Signed append-only events record identity, evidence, policy, approval, action, result.</a:t>
            </a:r>
          </a:p>
        </p:txBody>
      </p:sp>
    </p:spTree>
    <p:extLst>
      <p:ext uri="{BB962C8B-B14F-4D97-AF65-F5344CB8AC3E}">
        <p14:creationId xmlns:p14="http://schemas.microsoft.com/office/powerpoint/2010/main" val="2165674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BACDE1-6900-4550-9B73-8A3DE9B62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C0D8AC-7205-47D2-A65D-55B72762A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Protect logs and ticket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64A867-7A22-4648-B3D8-509BF725C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CFD8E6-D8E8-4508-9DD9-03B273C09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96B7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71FB14-9FE4-4ABA-9305-B4C11AEC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85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3A84FF-EAFC-4BFF-892D-E8702BB10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09700"/>
            <a:ext cx="1002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Before inference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EB3A7D-CBA4-4C4A-B98D-0C3E43CD4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04975"/>
            <a:ext cx="9944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Parse and mask tokens, cookies, names, emails, IPs, customer IDs and sensitive fields.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50A541-B8A9-4DE1-85F8-A21093DFA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C36298-F0EA-45A4-BD8C-3F591ABAB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86000"/>
            <a:ext cx="1002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Keep only what is needed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5EFE3C-77B1-4F68-BBBA-2480D03C0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81275"/>
            <a:ext cx="9944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Use typed placeholders and stable pseudonyms; keep re-identification mappings outside model access.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C02E3D-0C27-4A90-9818-29ABF61F3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50F57E-EA5C-4255-BF95-FE5EE63E6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62300"/>
            <a:ext cx="1002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Vendor boundary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B42CE2-38E1-4D71-91A0-2287F40C0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57575"/>
            <a:ext cx="9944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Private endpoint, fixed version, no training, minimal retention, verified deletion terms.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504F4E-AA41-443C-91EF-A4DFF0490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14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6B9D40-DF61-40F5-A9E7-CE7F78189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38600"/>
            <a:ext cx="1002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Retention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36A2FE-A620-46F9-A30E-6B610BC87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33875"/>
            <a:ext cx="9944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Minimal case context and traces: 30 days by default; audit: proposed one-year baseline.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2D5984-1278-44F3-9AE0-430AD8BB3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91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671AF3-5237-41C8-A0D5-195ADF562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14900"/>
            <a:ext cx="1002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Release gate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81C7A6-FB5C-4627-B72C-333681014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210175"/>
            <a:ext cx="9944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Seeded secret tests, red-team obfuscations, human sample review; output DLP scan.</a:t>
            </a:r>
          </a:p>
        </p:txBody>
      </p:sp>
    </p:spTree>
    <p:extLst>
      <p:ext uri="{BB962C8B-B14F-4D97-AF65-F5344CB8AC3E}">
        <p14:creationId xmlns:p14="http://schemas.microsoft.com/office/powerpoint/2010/main" val="391028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E23D3B-B677-44BC-813E-A269818E2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50D3BB-2C62-4426-BD88-1EEB1B07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AI-specific safeguards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C032CE-6B6F-4106-97CC-CC30C76DE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D4E63D-9680-45A2-9E50-3976FCC6F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96B7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25C901-602B-4A65-9F06-91C296917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5142CF-F3A0-41A1-BF4D-BE73274E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24000"/>
            <a:ext cx="468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Injection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F3FC2E-6676-49DF-9BA2-29BAAE5C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19275"/>
            <a:ext cx="46101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Treat retrieved text as data; model has no tools.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77FBBF-C196-492E-8EC5-AF9C920DD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62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7AC0F4-0B88-4077-85A0-6EC7BC378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86075"/>
            <a:ext cx="468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Poisoning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56F208-DB26-48EC-9D6A-47DFAC799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81350"/>
            <a:ext cx="46101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Verify provenance, approval, and corpus version.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354290-8E1F-4897-9DCB-844D948D1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24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FF4FFC-0813-457F-9AED-384DFB4AD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48150"/>
            <a:ext cx="468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Leakage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4F3692-27D0-4B5A-9FA3-279416E5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43425"/>
            <a:ext cx="46101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Minimize input; scan and constrain output.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653C2D-8BC8-4B8B-A1CD-F0359A0D4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00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D96719-D508-438E-8187-423156775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524000"/>
            <a:ext cx="487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Hallucination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8549F3-FC19-4787-BED4-5415351D1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19275"/>
            <a:ext cx="48006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Require evidence; abstain; human review for uncertainty.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A447DA-37DC-4224-821E-DEE4F178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62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843233-25EF-4328-84CF-190E9738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86075"/>
            <a:ext cx="487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Excessive agency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0A62AB-CB55-4694-B289-281453C01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81350"/>
            <a:ext cx="48006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Typed output, allowlisted runbooks, deterministic policy gate.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11A418-92A1-4325-A2A2-FBEF4FBA3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24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4F5199-5867-4824-AC16-698AD955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48150"/>
            <a:ext cx="487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Testing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EE9E42-DDF3-4B6F-B331-6A7CEF843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543425"/>
            <a:ext cx="48006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Accuracy, citation, abstention, attack, leakage, and drift regressions.</a:t>
            </a:r>
          </a:p>
        </p:txBody>
      </p:sp>
    </p:spTree>
    <p:extLst>
      <p:ext uri="{BB962C8B-B14F-4D97-AF65-F5344CB8AC3E}">
        <p14:creationId xmlns:p14="http://schemas.microsoft.com/office/powerpoint/2010/main" val="1581534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783070-D835-4DC3-9FCE-D740A2EF5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A6530B-BE2E-4BEE-90EA-015E26A98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Automation policy and response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A571F0-317C-4C4F-BF89-DCFA88C5A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398277-DB94-4284-B59F-2A990B6A8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96B77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2A7079-942E-4CA4-A48B-D109E1374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2D7A60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2D7A60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2D7A60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2D7A60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2D7A60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2D7A60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2D7A60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2D7A60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2D7A60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2D7A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D7A6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D7A60"/>
                </a:solidFill>
                <a:latin typeface="Arial"/>
                <a:ea typeface="Arial"/>
                <a:cs typeface="Arial"/>
              </a:rPr>
              <a:t>Auto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157E97-EE77-42CA-8EB3-ACE8C8C1D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Low-risk, known repeat; one noncritical target; confidence ≥0.95 + two signals; rollback.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2435A2-9126-4127-A6C1-CD8E130D7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909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A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2BB972-C4F5-451F-9741-9739B66D3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524000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936613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936613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936613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936613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936613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936613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936613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936613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936613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93661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93661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936613"/>
                </a:solidFill>
                <a:latin typeface="Arial"/>
                <a:ea typeface="Arial"/>
                <a:cs typeface="Arial"/>
              </a:rPr>
              <a:t>Approval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AB4C52-DB03-4940-85CD-77CB7357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383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Production restart or reversible config change; evidence + on-call approval; blast-radius check.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6CBCE1-ECD4-44EA-BC6E-EEB5741C3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7909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6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6CD5F2-762E-40BB-9A38-3099E80B7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524000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AF4848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AF4848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AF4848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AF4848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AF4848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AF4848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AF4848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AF4848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AF4848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AF48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AF484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F4848"/>
                </a:solidFill>
                <a:latin typeface="Arial"/>
                <a:ea typeface="Arial"/>
                <a:cs typeface="Arial"/>
              </a:rPr>
              <a:t>Human only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6C1EA4-2BCE-466D-88A4-19775B587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383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Security event, data export/deletion, privilege change, customer impact, uncertain cause.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02165D-95FE-48F8-B19C-DE5A25733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909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48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E5DB76-6653-44AC-B44C-F8D0AE7FE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243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Kill switch disables writes. On compromise: revoke → isolate → preserve evidence → restore known-good → retest.</a:t>
            </a:r>
          </a:p>
        </p:txBody>
      </p:sp>
    </p:spTree>
    <p:extLst>
      <p:ext uri="{BB962C8B-B14F-4D97-AF65-F5344CB8AC3E}">
        <p14:creationId xmlns:p14="http://schemas.microsoft.com/office/powerpoint/2010/main" val="19960737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91423E-CAE1-4393-B386-1715612E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DB8D4C-8DAB-4787-B0FC-D919D9EF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Measures and application security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06484D-9B7F-47A8-BE8E-DA59F83F3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7B7084-CFC7-4997-9F85-41DFFAD3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96B77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711DC3-9963-41AA-A517-861D2B048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57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F5E3BF-8F6F-4E67-8E66-93A2C2AE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381125"/>
            <a:ext cx="1002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Service targets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C674F4-F8EC-4822-B9E2-288A1929D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676400"/>
            <a:ext cx="9944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Eligible repeat MTTR −20%; detection &lt;5 min; 25% low-risk ticket automation.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56035B-38D2-4B1A-8406-5483BD9BA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526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F15CEF-9D12-4741-BB9D-B7097BDA7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76475"/>
            <a:ext cx="1002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Safety targets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7CA2C7-CB08-492D-85BB-96B83C1D4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71750"/>
            <a:ext cx="9944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Zero unauthorized actions or copilot Sev 1/2 outages; reopen ≤3%; rollback ≥99% in tests.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877B77-8396-4B58-8359-91F2CCDEA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480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D57F5C-5C29-4D4D-B814-B5CEF8D86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71825"/>
            <a:ext cx="1002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Secure build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ADBC03-7426-48AE-92EE-C0E91EFD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67100"/>
            <a:ext cx="9944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Threat model, code review, SAST/SCA/secrets scans, SBOM, signed builds, pinned model.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77EEF3-2DF7-4B02-961F-9BA726B78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433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74EC98-0C51-4AD9-8C77-85A340FC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67175"/>
            <a:ext cx="1002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API safety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E23AF3-9C93-44BB-A0C8-68360E431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62450"/>
            <a:ext cx="9944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Per-call authorization, input/schema validation, signature checks, rate limits, no arbitrary URL fetch.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A295B4-C95E-4DD9-B4CE-4AFBDBEA1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38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B1B415-9D20-4420-B7BA-E4601F97C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62525"/>
            <a:ext cx="1002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Never execute model text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B3DD3F-7012-4D20-9AAA-CCAD861A6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257800"/>
            <a:ext cx="9944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Validate typed JSON; approved runbooks only; no direct shell, SQL, or database writes.</a:t>
            </a:r>
          </a:p>
        </p:txBody>
      </p:sp>
    </p:spTree>
    <p:extLst>
      <p:ext uri="{BB962C8B-B14F-4D97-AF65-F5344CB8AC3E}">
        <p14:creationId xmlns:p14="http://schemas.microsoft.com/office/powerpoint/2010/main" val="187623555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F54BC2-FDFF-4C3B-8AFE-CA1187B2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2FC05B-AADD-4314-AE5F-6683292D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Red team plan and recommendation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8B2E82-B50C-4029-9765-A85AED2A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CBDDA0-2403-4783-8580-117F9BBE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596B7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96B7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399774-3D7B-4D41-AE43-485D2429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57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C01D05-98EF-4978-838E-A67616B4E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381125"/>
            <a:ext cx="1002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Test in isolation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39737A-4C89-4EC7-BF99-D7D071871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676400"/>
            <a:ext cx="9944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Written authorization; synthetic data; separate accounts; stop rules; no production changes.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E3906C-4D67-4FD3-9954-38FA3096C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526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7919FE-7740-4E4E-9466-4D7732581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76475"/>
            <a:ext cx="1002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Scenarios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CC2181-8C86-41FD-831B-4DCC5F75F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71750"/>
            <a:ext cx="9944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Prompt injection, stolen credentials, unsafe fix, poisoned history, data extraction, weak supplier.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7DE685-7632-48FC-BA6A-D8419CF70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480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045486-CE1E-4A01-B42E-E4C9F946F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71825"/>
            <a:ext cx="1002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Framework links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7BA30E-0095-403C-9173-717D48909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67100"/>
            <a:ext cx="9944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MITRE ATLAS for AI attacks; ATT&amp;CK T1059, T1552, T1078, T1195 where applicable.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A90788-7F59-42B0-9D6B-25CDCF284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433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281AB1-6007-4047-8491-A4997A618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67175"/>
            <a:ext cx="1002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Close the loop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F9A5BD-6471-4556-9705-AD56F226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62450"/>
            <a:ext cx="9944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Owner + deadline for each finding; retest; add regressions to CI and model evaluation.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A490C1-F578-4B14-93FD-F5B1E09F5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38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155F17-E26F-4E22-A85C-33A24DFFC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62525"/>
            <a:ext cx="1002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2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324A"/>
                </a:solidFill>
                <a:latin typeface="Arial"/>
                <a:ea typeface="Arial"/>
                <a:cs typeface="Arial"/>
              </a:rPr>
              <a:t>Recommendation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D4506B-CC14-4A9A-AF37-D9BA56EE6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257800"/>
            <a:ext cx="9944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Start read-only. Expand writes only when reliability and safety evidence pass gates.</a:t>
            </a:r>
          </a:p>
        </p:txBody>
      </p:sp>
    </p:spTree>
    <p:extLst>
      <p:ext uri="{BB962C8B-B14F-4D97-AF65-F5344CB8AC3E}">
        <p14:creationId xmlns:p14="http://schemas.microsoft.com/office/powerpoint/2010/main" val="9163331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2026-10-28T12:37:22.8940000Z</dcterms:created>
  <dcterms:modified xsi:type="dcterms:W3CDTF">2026-10-28T12:37:22.8940000Z</dcterms:modified>
</coreProperties>
</file>